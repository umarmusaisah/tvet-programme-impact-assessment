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83" y="49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ess%20Teck%20Solutions\Documents\DATA%20ANALYTICS%20FOR%20MICROBIOLOGIST%20AND%20OTHER%20HEALTH%20PERSONNELS%201.0\TVET_Programme_Impact_Assessment_Project\02_Cleaned_Data\TVET_Analysis_Data.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ess%20Teck%20Solutions\Documents\DATA%20ANALYTICS%20FOR%20MICROBIOLOGIST%20AND%20OTHER%20HEALTH%20PERSONNELS%201.0\TVET_Programme_Impact_Assessment_Project\02_Cleaned_Data\TVET_Analysis_Data.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[TVET_Analysis_Data..xlsx]06_Pivot_Tables!PivotTable2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Gender Employment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</c:pivotFmt>
      <c:pivotFmt>
        <c:idx val="10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dLbl>
          <c:idx val="0"/>
          <c:layout>
            <c:manualLayout>
              <c:x val="0"/>
              <c:y val="8.8241440553542647E-2"/>
            </c:manualLayout>
          </c:layout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</c:pivotFmt>
      <c:pivotFmt>
        <c:idx val="16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dLbl>
          <c:idx val="0"/>
          <c:layout>
            <c:manualLayout>
              <c:x val="0"/>
              <c:y val="8.8241440553542647E-2"/>
            </c:manualLayout>
          </c:layout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</c:pivotFmt>
      <c:pivotFmt>
        <c:idx val="22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75000"/>
                <a:alpha val="40000"/>
              </a:schemeClr>
            </a:outerShdw>
            <a:softEdge rad="0"/>
          </a:effectLst>
        </c:spPr>
        <c:dLbl>
          <c:idx val="0"/>
          <c:layout>
            <c:manualLayout>
              <c:x val="0"/>
              <c:y val="8.8241440553542647E-2"/>
            </c:manualLayout>
          </c:layout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1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'06_Pivot_Tables'!$B$2:$B$3</c:f>
              <c:strCache>
                <c:ptCount val="1"/>
                <c:pt idx="0">
                  <c:v>employed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2D-438E-BAC6-4E8B525FFFB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82D-438E-BAC6-4E8B525FFFB3}"/>
              </c:ext>
            </c:extLst>
          </c:dPt>
          <c:dLbls>
            <c:dLbl>
              <c:idx val="1"/>
              <c:layout>
                <c:manualLayout>
                  <c:x val="0"/>
                  <c:y val="8.8241440553542647E-2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2D-438E-BAC6-4E8B525FFFB3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1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'06_Pivot_Tables'!$A$4:$A$6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'06_Pivot_Tables'!$B$4:$B$6</c:f>
              <c:numCache>
                <c:formatCode>General</c:formatCode>
                <c:ptCount val="2"/>
                <c:pt idx="0">
                  <c:v>14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2D-438E-BAC6-4E8B525FFFB3}"/>
            </c:ext>
          </c:extLst>
        </c:ser>
        <c:ser>
          <c:idx val="1"/>
          <c:order val="1"/>
          <c:tx>
            <c:strRef>
              <c:f>'06_Pivot_Tables'!$C$2:$C$3</c:f>
              <c:strCache>
                <c:ptCount val="1"/>
                <c:pt idx="0">
                  <c:v>self_employed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382D-438E-BAC6-4E8B525FFFB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82D-438E-BAC6-4E8B525FFF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'06_Pivot_Tables'!$A$4:$A$6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'06_Pivot_Tables'!$C$4:$C$6</c:f>
              <c:numCache>
                <c:formatCode>General</c:formatCode>
                <c:ptCount val="2"/>
                <c:pt idx="0">
                  <c:v>10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82D-438E-BAC6-4E8B525FF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[TVET_Analysis_Data..xlsx]06_Pivot_Tables!PivotTable5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Employment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14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15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16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24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25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26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34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35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36"/>
        <c:spPr>
          <a:solidFill>
            <a:schemeClr val="accent1"/>
          </a:solidFill>
          <a:ln w="19050">
            <a:noFill/>
          </a:ln>
          <a:effectLst>
            <a:outerShdw blurRad="63500" sx="102000" sy="102000" algn="ctr" rotWithShape="0">
              <a:schemeClr val="bg1">
                <a:lumMod val="65000"/>
                <a:alpha val="40000"/>
              </a:schemeClr>
            </a:outerShdw>
          </a:effectLst>
        </c:spPr>
      </c:pivotFmt>
      <c:pivotFmt>
        <c:idx val="3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'06_Pivot_Tables'!$B$25:$B$26</c:f>
              <c:strCache>
                <c:ptCount val="1"/>
                <c:pt idx="0">
                  <c:v>moderate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FB-48B2-B20E-4298EC479A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FB-48B2-B20E-4298EC479A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FB-48B2-B20E-4298EC479A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FFB-48B2-B20E-4298EC479A77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'06_Pivot_Tables'!$A$27:$A$31</c:f>
              <c:strCache>
                <c:ptCount val="4"/>
                <c:pt idx="0">
                  <c:v>carpentry</c:v>
                </c:pt>
                <c:pt idx="1">
                  <c:v>ict</c:v>
                </c:pt>
                <c:pt idx="2">
                  <c:v>plumbing</c:v>
                </c:pt>
                <c:pt idx="3">
                  <c:v>tailoring</c:v>
                </c:pt>
              </c:strCache>
            </c:strRef>
          </c:cat>
          <c:val>
            <c:numRef>
              <c:f>'06_Pivot_Tables'!$B$27:$B$31</c:f>
              <c:numCache>
                <c:formatCode>General</c:formatCode>
                <c:ptCount val="4"/>
                <c:pt idx="1">
                  <c:v>14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FB-48B2-B20E-4298EC479A77}"/>
            </c:ext>
          </c:extLst>
        </c:ser>
        <c:ser>
          <c:idx val="1"/>
          <c:order val="1"/>
          <c:tx>
            <c:strRef>
              <c:f>'06_Pivot_Tables'!$C$25:$C$26</c:f>
              <c:strCache>
                <c:ptCount val="1"/>
                <c:pt idx="0">
                  <c:v>significant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5FFB-48B2-B20E-4298EC479A7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5FFB-48B2-B20E-4298EC479A7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5FFB-48B2-B20E-4298EC479A7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5FFB-48B2-B20E-4298EC479A77}"/>
              </c:ext>
            </c:extLst>
          </c:dPt>
          <c:cat>
            <c:strRef>
              <c:f>'06_Pivot_Tables'!$A$27:$A$31</c:f>
              <c:strCache>
                <c:ptCount val="4"/>
                <c:pt idx="0">
                  <c:v>carpentry</c:v>
                </c:pt>
                <c:pt idx="1">
                  <c:v>ict</c:v>
                </c:pt>
                <c:pt idx="2">
                  <c:v>plumbing</c:v>
                </c:pt>
                <c:pt idx="3">
                  <c:v>tailoring</c:v>
                </c:pt>
              </c:strCache>
            </c:strRef>
          </c:cat>
          <c:val>
            <c:numRef>
              <c:f>'06_Pivot_Tables'!$C$27:$C$31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5FFB-48B2-B20E-4298EC479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7EE6FE-416E-4063-8C14-3F2BBD63ED0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3115BD5-42EB-4D00-93F9-B24BB3726FC8}">
      <dgm:prSet phldrT="[Text]"/>
      <dgm:spPr/>
      <dgm:t>
        <a:bodyPr/>
        <a:lstStyle/>
        <a:p>
          <a:r>
            <a:rPr lang="en-US" dirty="0"/>
            <a:t>Questionnaire developed with validation rules and skip logic.</a:t>
          </a:r>
        </a:p>
      </dgm:t>
    </dgm:pt>
    <dgm:pt modelId="{30328FDD-2B22-4F3D-9F8B-818CC3980E16}" type="parTrans" cxnId="{6016637A-49F6-487F-BA9F-7B48C34A21CD}">
      <dgm:prSet/>
      <dgm:spPr/>
      <dgm:t>
        <a:bodyPr/>
        <a:lstStyle/>
        <a:p>
          <a:endParaRPr lang="en-US"/>
        </a:p>
      </dgm:t>
    </dgm:pt>
    <dgm:pt modelId="{550F0705-384E-4926-8A0C-890506074566}" type="sibTrans" cxnId="{6016637A-49F6-487F-BA9F-7B48C34A21CD}">
      <dgm:prSet/>
      <dgm:spPr/>
      <dgm:t>
        <a:bodyPr/>
        <a:lstStyle/>
        <a:p>
          <a:endParaRPr lang="en-US"/>
        </a:p>
      </dgm:t>
    </dgm:pt>
    <dgm:pt modelId="{9FA771F4-C9C7-41F8-B2E6-57A655CE1F8E}">
      <dgm:prSet phldrT="[Text]"/>
      <dgm:spPr/>
      <dgm:t>
        <a:bodyPr/>
        <a:lstStyle/>
        <a:p>
          <a:r>
            <a:rPr lang="en-US" dirty="0"/>
            <a:t>Responses collected through </a:t>
          </a:r>
          <a:r>
            <a:rPr lang="en-US" dirty="0" err="1"/>
            <a:t>KoboToolbox</a:t>
          </a:r>
          <a:r>
            <a:rPr lang="en-US" dirty="0"/>
            <a:t>, </a:t>
          </a:r>
          <a:r>
            <a:rPr lang="en-US" dirty="0" err="1"/>
            <a:t>CommCare</a:t>
          </a:r>
          <a:r>
            <a:rPr lang="en-US" dirty="0"/>
            <a:t>, and Google Forms.</a:t>
          </a:r>
        </a:p>
      </dgm:t>
    </dgm:pt>
    <dgm:pt modelId="{3DD3A669-14FB-46DA-96FE-EE4FCF118717}" type="parTrans" cxnId="{B7E98BF7-86C7-4FF5-A9AD-D5BF9C3FF2A0}">
      <dgm:prSet/>
      <dgm:spPr/>
      <dgm:t>
        <a:bodyPr/>
        <a:lstStyle/>
        <a:p>
          <a:endParaRPr lang="en-US"/>
        </a:p>
      </dgm:t>
    </dgm:pt>
    <dgm:pt modelId="{23F5EE22-C333-4E11-A095-A090DDACDE1D}" type="sibTrans" cxnId="{B7E98BF7-86C7-4FF5-A9AD-D5BF9C3FF2A0}">
      <dgm:prSet/>
      <dgm:spPr/>
      <dgm:t>
        <a:bodyPr/>
        <a:lstStyle/>
        <a:p>
          <a:endParaRPr lang="en-US"/>
        </a:p>
      </dgm:t>
    </dgm:pt>
    <dgm:pt modelId="{1AE9681E-6F07-4F2D-8F13-13685D3B3B50}">
      <dgm:prSet phldrT="[Text]"/>
      <dgm:spPr/>
      <dgm:t>
        <a:bodyPr/>
        <a:lstStyle/>
        <a:p>
          <a:r>
            <a:rPr lang="en-US" dirty="0"/>
            <a:t>Dataset validated, cleaned, and prepared for analysis.</a:t>
          </a:r>
        </a:p>
      </dgm:t>
    </dgm:pt>
    <dgm:pt modelId="{EEB2C871-DA4E-409D-B98C-75499777375D}" type="parTrans" cxnId="{B2D20C44-0466-48B2-903C-39320B5508C1}">
      <dgm:prSet/>
      <dgm:spPr/>
      <dgm:t>
        <a:bodyPr/>
        <a:lstStyle/>
        <a:p>
          <a:endParaRPr lang="en-US"/>
        </a:p>
      </dgm:t>
    </dgm:pt>
    <dgm:pt modelId="{F6327A0E-D920-4ED4-A16F-BDBA0C9E39B1}" type="sibTrans" cxnId="{B2D20C44-0466-48B2-903C-39320B5508C1}">
      <dgm:prSet/>
      <dgm:spPr/>
      <dgm:t>
        <a:bodyPr/>
        <a:lstStyle/>
        <a:p>
          <a:endParaRPr lang="en-US"/>
        </a:p>
      </dgm:t>
    </dgm:pt>
    <dgm:pt modelId="{33705535-583B-451C-AD61-102D420D9530}">
      <dgm:prSet phldrT="[Text]"/>
      <dgm:spPr/>
      <dgm:t>
        <a:bodyPr/>
        <a:lstStyle/>
        <a:p>
          <a:r>
            <a:rPr lang="en-US" dirty="0"/>
            <a:t>Descriptive statistics, Pivot Tables, Pivot Charts, and dashboard.</a:t>
          </a:r>
        </a:p>
      </dgm:t>
    </dgm:pt>
    <dgm:pt modelId="{24CE080A-F477-47FF-9E2C-258EF134F049}" type="parTrans" cxnId="{161D4694-2FFF-40A7-8D8A-4AE97E94EC40}">
      <dgm:prSet/>
      <dgm:spPr/>
      <dgm:t>
        <a:bodyPr/>
        <a:lstStyle/>
        <a:p>
          <a:endParaRPr lang="en-US"/>
        </a:p>
      </dgm:t>
    </dgm:pt>
    <dgm:pt modelId="{921BA295-B1E1-49B8-85CC-FDF02068F855}" type="sibTrans" cxnId="{161D4694-2FFF-40A7-8D8A-4AE97E94EC40}">
      <dgm:prSet/>
      <dgm:spPr/>
      <dgm:t>
        <a:bodyPr/>
        <a:lstStyle/>
        <a:p>
          <a:endParaRPr lang="en-US"/>
        </a:p>
      </dgm:t>
    </dgm:pt>
    <dgm:pt modelId="{007A9174-8917-4E3F-812C-51CD1AB30D68}">
      <dgm:prSet phldrT="[Text]"/>
      <dgm:spPr/>
      <dgm:t>
        <a:bodyPr/>
        <a:lstStyle/>
        <a:p>
          <a:r>
            <a:rPr lang="en-US"/>
            <a:t>Queries used to retrieve, summarise, and validate analytical results.</a:t>
          </a:r>
          <a:endParaRPr lang="en-US" dirty="0"/>
        </a:p>
      </dgm:t>
    </dgm:pt>
    <dgm:pt modelId="{8B6D3828-3FFD-441C-8533-D21BD5E29046}" type="parTrans" cxnId="{0880772D-C402-4272-802B-9BF579572D31}">
      <dgm:prSet/>
      <dgm:spPr/>
      <dgm:t>
        <a:bodyPr/>
        <a:lstStyle/>
        <a:p>
          <a:endParaRPr lang="en-US"/>
        </a:p>
      </dgm:t>
    </dgm:pt>
    <dgm:pt modelId="{064DE249-68E2-4305-A0A1-8B482C60570F}" type="sibTrans" cxnId="{0880772D-C402-4272-802B-9BF579572D31}">
      <dgm:prSet/>
      <dgm:spPr/>
      <dgm:t>
        <a:bodyPr/>
        <a:lstStyle/>
        <a:p>
          <a:endParaRPr lang="en-US"/>
        </a:p>
      </dgm:t>
    </dgm:pt>
    <dgm:pt modelId="{A521F5DD-44C5-4255-876A-DB15BFD68DDE}">
      <dgm:prSet phldrT="[Text]"/>
      <dgm:spPr/>
      <dgm:t>
        <a:bodyPr/>
        <a:lstStyle/>
        <a:p>
          <a:r>
            <a:rPr lang="en-US"/>
            <a:t>Interactive dashboard developed using DAX measures and visualisations.</a:t>
          </a:r>
          <a:endParaRPr lang="en-US" dirty="0"/>
        </a:p>
      </dgm:t>
    </dgm:pt>
    <dgm:pt modelId="{730F46E0-DA9E-492E-9B2D-46373963DBBE}" type="parTrans" cxnId="{C3312953-4406-4992-8B59-F0CFF837D5EA}">
      <dgm:prSet/>
      <dgm:spPr/>
      <dgm:t>
        <a:bodyPr/>
        <a:lstStyle/>
        <a:p>
          <a:endParaRPr lang="en-US"/>
        </a:p>
      </dgm:t>
    </dgm:pt>
    <dgm:pt modelId="{0F328EFF-3F3F-48BF-B9D6-35FE7151604E}" type="sibTrans" cxnId="{C3312953-4406-4992-8B59-F0CFF837D5EA}">
      <dgm:prSet/>
      <dgm:spPr/>
      <dgm:t>
        <a:bodyPr/>
        <a:lstStyle/>
        <a:p>
          <a:endParaRPr lang="en-US"/>
        </a:p>
      </dgm:t>
    </dgm:pt>
    <dgm:pt modelId="{9CD65C4E-E1A9-434C-B410-37729AE02448}">
      <dgm:prSet phldrT="[Text]"/>
      <dgm:spPr/>
      <dgm:t>
        <a:bodyPr/>
        <a:lstStyle/>
        <a:p>
          <a:r>
            <a:rPr lang="en-US" dirty="0"/>
            <a:t>Findings documented with recommendations and presentation.</a:t>
          </a:r>
        </a:p>
      </dgm:t>
    </dgm:pt>
    <dgm:pt modelId="{C26CE72F-C531-4678-A9D2-6D2268D7C426}" type="parTrans" cxnId="{02D5DE6D-1987-455F-8650-47C16856EE7C}">
      <dgm:prSet/>
      <dgm:spPr/>
      <dgm:t>
        <a:bodyPr/>
        <a:lstStyle/>
        <a:p>
          <a:endParaRPr lang="en-US"/>
        </a:p>
      </dgm:t>
    </dgm:pt>
    <dgm:pt modelId="{B348D3B8-ABAE-46F0-9F28-B673AC57283B}" type="sibTrans" cxnId="{02D5DE6D-1987-455F-8650-47C16856EE7C}">
      <dgm:prSet/>
      <dgm:spPr/>
      <dgm:t>
        <a:bodyPr/>
        <a:lstStyle/>
        <a:p>
          <a:endParaRPr lang="en-US"/>
        </a:p>
      </dgm:t>
    </dgm:pt>
    <dgm:pt modelId="{875FD629-ABC2-4DA3-8CD8-B28303DD84D6}" type="pres">
      <dgm:prSet presAssocID="{C17EE6FE-416E-4063-8C14-3F2BBD63ED07}" presName="Name0" presStyleCnt="0">
        <dgm:presLayoutVars>
          <dgm:dir/>
          <dgm:animLvl val="lvl"/>
          <dgm:resizeHandles val="exact"/>
        </dgm:presLayoutVars>
      </dgm:prSet>
      <dgm:spPr/>
    </dgm:pt>
    <dgm:pt modelId="{C49CD394-3552-4D96-8C4F-C9FC6BBDB9C7}" type="pres">
      <dgm:prSet presAssocID="{B3115BD5-42EB-4D00-93F9-B24BB3726FC8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5EB9FDA1-C9B2-4D1F-983E-4689108DE58B}" type="pres">
      <dgm:prSet presAssocID="{550F0705-384E-4926-8A0C-890506074566}" presName="parTxOnlySpace" presStyleCnt="0"/>
      <dgm:spPr/>
    </dgm:pt>
    <dgm:pt modelId="{0BC9A461-D59C-40B2-8892-562441E8E8F2}" type="pres">
      <dgm:prSet presAssocID="{9FA771F4-C9C7-41F8-B2E6-57A655CE1F8E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3C0A4D77-D476-421C-8D39-BE7907578ABE}" type="pres">
      <dgm:prSet presAssocID="{23F5EE22-C333-4E11-A095-A090DDACDE1D}" presName="parTxOnlySpace" presStyleCnt="0"/>
      <dgm:spPr/>
    </dgm:pt>
    <dgm:pt modelId="{EC317A5A-7ACC-43B6-A5BD-08ED785EED2F}" type="pres">
      <dgm:prSet presAssocID="{1AE9681E-6F07-4F2D-8F13-13685D3B3B50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2B804C06-45BA-4F7E-8128-2A8B70096619}" type="pres">
      <dgm:prSet presAssocID="{F6327A0E-D920-4ED4-A16F-BDBA0C9E39B1}" presName="parTxOnlySpace" presStyleCnt="0"/>
      <dgm:spPr/>
    </dgm:pt>
    <dgm:pt modelId="{79C6AA2C-6179-4FEB-A2EA-90A6CAD05293}" type="pres">
      <dgm:prSet presAssocID="{33705535-583B-451C-AD61-102D420D9530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8C1608CC-7CEF-41D7-9BD8-C0CE422857A0}" type="pres">
      <dgm:prSet presAssocID="{921BA295-B1E1-49B8-85CC-FDF02068F855}" presName="parTxOnlySpace" presStyleCnt="0"/>
      <dgm:spPr/>
    </dgm:pt>
    <dgm:pt modelId="{8089497B-D1FD-4DF7-86DD-0631E3FA3B44}" type="pres">
      <dgm:prSet presAssocID="{007A9174-8917-4E3F-812C-51CD1AB30D68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D487CA99-2C04-494D-91C6-20BEE68FE810}" type="pres">
      <dgm:prSet presAssocID="{064DE249-68E2-4305-A0A1-8B482C60570F}" presName="parTxOnlySpace" presStyleCnt="0"/>
      <dgm:spPr/>
    </dgm:pt>
    <dgm:pt modelId="{44AFDE3A-A998-48D4-BE10-4E4CF7865E20}" type="pres">
      <dgm:prSet presAssocID="{A521F5DD-44C5-4255-876A-DB15BFD68DDE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E7B02C0-A683-471D-AAA9-0900D62FEFFD}" type="pres">
      <dgm:prSet presAssocID="{0F328EFF-3F3F-48BF-B9D6-35FE7151604E}" presName="parTxOnlySpace" presStyleCnt="0"/>
      <dgm:spPr/>
    </dgm:pt>
    <dgm:pt modelId="{1B39CF92-E3F6-47F8-A660-EB3F8F4ABEE8}" type="pres">
      <dgm:prSet presAssocID="{9CD65C4E-E1A9-434C-B410-37729AE0244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AD687603-E92B-4959-82B3-0C4C1B2221F8}" type="presOf" srcId="{9FA771F4-C9C7-41F8-B2E6-57A655CE1F8E}" destId="{0BC9A461-D59C-40B2-8892-562441E8E8F2}" srcOrd="0" destOrd="0" presId="urn:microsoft.com/office/officeart/2005/8/layout/chevron1"/>
    <dgm:cxn modelId="{0880772D-C402-4272-802B-9BF579572D31}" srcId="{C17EE6FE-416E-4063-8C14-3F2BBD63ED07}" destId="{007A9174-8917-4E3F-812C-51CD1AB30D68}" srcOrd="4" destOrd="0" parTransId="{8B6D3828-3FFD-441C-8533-D21BD5E29046}" sibTransId="{064DE249-68E2-4305-A0A1-8B482C60570F}"/>
    <dgm:cxn modelId="{B2D20C44-0466-48B2-903C-39320B5508C1}" srcId="{C17EE6FE-416E-4063-8C14-3F2BBD63ED07}" destId="{1AE9681E-6F07-4F2D-8F13-13685D3B3B50}" srcOrd="2" destOrd="0" parTransId="{EEB2C871-DA4E-409D-B98C-75499777375D}" sibTransId="{F6327A0E-D920-4ED4-A16F-BDBA0C9E39B1}"/>
    <dgm:cxn modelId="{2C783E66-0A00-446F-9F1E-290EDDAAB6BA}" type="presOf" srcId="{9CD65C4E-E1A9-434C-B410-37729AE02448}" destId="{1B39CF92-E3F6-47F8-A660-EB3F8F4ABEE8}" srcOrd="0" destOrd="0" presId="urn:microsoft.com/office/officeart/2005/8/layout/chevron1"/>
    <dgm:cxn modelId="{81942867-2053-4B27-9699-3D16B1BF2A4F}" type="presOf" srcId="{33705535-583B-451C-AD61-102D420D9530}" destId="{79C6AA2C-6179-4FEB-A2EA-90A6CAD05293}" srcOrd="0" destOrd="0" presId="urn:microsoft.com/office/officeart/2005/8/layout/chevron1"/>
    <dgm:cxn modelId="{02D5DE6D-1987-455F-8650-47C16856EE7C}" srcId="{C17EE6FE-416E-4063-8C14-3F2BBD63ED07}" destId="{9CD65C4E-E1A9-434C-B410-37729AE02448}" srcOrd="6" destOrd="0" parTransId="{C26CE72F-C531-4678-A9D2-6D2268D7C426}" sibTransId="{B348D3B8-ABAE-46F0-9F28-B673AC57283B}"/>
    <dgm:cxn modelId="{64B6574E-34E3-4E30-BBED-719FA5B3035D}" type="presOf" srcId="{A521F5DD-44C5-4255-876A-DB15BFD68DDE}" destId="{44AFDE3A-A998-48D4-BE10-4E4CF7865E20}" srcOrd="0" destOrd="0" presId="urn:microsoft.com/office/officeart/2005/8/layout/chevron1"/>
    <dgm:cxn modelId="{C3312953-4406-4992-8B59-F0CFF837D5EA}" srcId="{C17EE6FE-416E-4063-8C14-3F2BBD63ED07}" destId="{A521F5DD-44C5-4255-876A-DB15BFD68DDE}" srcOrd="5" destOrd="0" parTransId="{730F46E0-DA9E-492E-9B2D-46373963DBBE}" sibTransId="{0F328EFF-3F3F-48BF-B9D6-35FE7151604E}"/>
    <dgm:cxn modelId="{6016637A-49F6-487F-BA9F-7B48C34A21CD}" srcId="{C17EE6FE-416E-4063-8C14-3F2BBD63ED07}" destId="{B3115BD5-42EB-4D00-93F9-B24BB3726FC8}" srcOrd="0" destOrd="0" parTransId="{30328FDD-2B22-4F3D-9F8B-818CC3980E16}" sibTransId="{550F0705-384E-4926-8A0C-890506074566}"/>
    <dgm:cxn modelId="{B0A5377D-B6A6-4CD2-8E90-9BB0D9818F7E}" type="presOf" srcId="{B3115BD5-42EB-4D00-93F9-B24BB3726FC8}" destId="{C49CD394-3552-4D96-8C4F-C9FC6BBDB9C7}" srcOrd="0" destOrd="0" presId="urn:microsoft.com/office/officeart/2005/8/layout/chevron1"/>
    <dgm:cxn modelId="{161D4694-2FFF-40A7-8D8A-4AE97E94EC40}" srcId="{C17EE6FE-416E-4063-8C14-3F2BBD63ED07}" destId="{33705535-583B-451C-AD61-102D420D9530}" srcOrd="3" destOrd="0" parTransId="{24CE080A-F477-47FF-9E2C-258EF134F049}" sibTransId="{921BA295-B1E1-49B8-85CC-FDF02068F855}"/>
    <dgm:cxn modelId="{9FE7829E-3B1C-4B41-A1A0-88C52DA4A47F}" type="presOf" srcId="{007A9174-8917-4E3F-812C-51CD1AB30D68}" destId="{8089497B-D1FD-4DF7-86DD-0631E3FA3B44}" srcOrd="0" destOrd="0" presId="urn:microsoft.com/office/officeart/2005/8/layout/chevron1"/>
    <dgm:cxn modelId="{C8EBBDAB-3D45-45D3-9AE2-56A3FF71AF74}" type="presOf" srcId="{C17EE6FE-416E-4063-8C14-3F2BBD63ED07}" destId="{875FD629-ABC2-4DA3-8CD8-B28303DD84D6}" srcOrd="0" destOrd="0" presId="urn:microsoft.com/office/officeart/2005/8/layout/chevron1"/>
    <dgm:cxn modelId="{B867A8E4-E630-44F7-8F82-6E3776B3B714}" type="presOf" srcId="{1AE9681E-6F07-4F2D-8F13-13685D3B3B50}" destId="{EC317A5A-7ACC-43B6-A5BD-08ED785EED2F}" srcOrd="0" destOrd="0" presId="urn:microsoft.com/office/officeart/2005/8/layout/chevron1"/>
    <dgm:cxn modelId="{B7E98BF7-86C7-4FF5-A9AD-D5BF9C3FF2A0}" srcId="{C17EE6FE-416E-4063-8C14-3F2BBD63ED07}" destId="{9FA771F4-C9C7-41F8-B2E6-57A655CE1F8E}" srcOrd="1" destOrd="0" parTransId="{3DD3A669-14FB-46DA-96FE-EE4FCF118717}" sibTransId="{23F5EE22-C333-4E11-A095-A090DDACDE1D}"/>
    <dgm:cxn modelId="{D7CD3533-F04D-4804-A018-223DE8B9D7B5}" type="presParOf" srcId="{875FD629-ABC2-4DA3-8CD8-B28303DD84D6}" destId="{C49CD394-3552-4D96-8C4F-C9FC6BBDB9C7}" srcOrd="0" destOrd="0" presId="urn:microsoft.com/office/officeart/2005/8/layout/chevron1"/>
    <dgm:cxn modelId="{896CB397-8C55-4394-8849-C1FF4632C148}" type="presParOf" srcId="{875FD629-ABC2-4DA3-8CD8-B28303DD84D6}" destId="{5EB9FDA1-C9B2-4D1F-983E-4689108DE58B}" srcOrd="1" destOrd="0" presId="urn:microsoft.com/office/officeart/2005/8/layout/chevron1"/>
    <dgm:cxn modelId="{52D1EE97-D163-49F8-97F8-579DC7B3B011}" type="presParOf" srcId="{875FD629-ABC2-4DA3-8CD8-B28303DD84D6}" destId="{0BC9A461-D59C-40B2-8892-562441E8E8F2}" srcOrd="2" destOrd="0" presId="urn:microsoft.com/office/officeart/2005/8/layout/chevron1"/>
    <dgm:cxn modelId="{BABC021D-351B-411E-992C-AA598D6041B8}" type="presParOf" srcId="{875FD629-ABC2-4DA3-8CD8-B28303DD84D6}" destId="{3C0A4D77-D476-421C-8D39-BE7907578ABE}" srcOrd="3" destOrd="0" presId="urn:microsoft.com/office/officeart/2005/8/layout/chevron1"/>
    <dgm:cxn modelId="{7F218684-94F1-498A-9B23-313B5FB28FB3}" type="presParOf" srcId="{875FD629-ABC2-4DA3-8CD8-B28303DD84D6}" destId="{EC317A5A-7ACC-43B6-A5BD-08ED785EED2F}" srcOrd="4" destOrd="0" presId="urn:microsoft.com/office/officeart/2005/8/layout/chevron1"/>
    <dgm:cxn modelId="{B134F945-52AC-4F3C-B2AE-B430BC961B8E}" type="presParOf" srcId="{875FD629-ABC2-4DA3-8CD8-B28303DD84D6}" destId="{2B804C06-45BA-4F7E-8128-2A8B70096619}" srcOrd="5" destOrd="0" presId="urn:microsoft.com/office/officeart/2005/8/layout/chevron1"/>
    <dgm:cxn modelId="{0BC700BC-6809-4CCC-BD51-FA797AB27D2D}" type="presParOf" srcId="{875FD629-ABC2-4DA3-8CD8-B28303DD84D6}" destId="{79C6AA2C-6179-4FEB-A2EA-90A6CAD05293}" srcOrd="6" destOrd="0" presId="urn:microsoft.com/office/officeart/2005/8/layout/chevron1"/>
    <dgm:cxn modelId="{8D516047-AB39-4DBF-BEDB-2ACD80A7F941}" type="presParOf" srcId="{875FD629-ABC2-4DA3-8CD8-B28303DD84D6}" destId="{8C1608CC-7CEF-41D7-9BD8-C0CE422857A0}" srcOrd="7" destOrd="0" presId="urn:microsoft.com/office/officeart/2005/8/layout/chevron1"/>
    <dgm:cxn modelId="{AFE68ADB-758D-45A3-B398-8DEEEA9E86DE}" type="presParOf" srcId="{875FD629-ABC2-4DA3-8CD8-B28303DD84D6}" destId="{8089497B-D1FD-4DF7-86DD-0631E3FA3B44}" srcOrd="8" destOrd="0" presId="urn:microsoft.com/office/officeart/2005/8/layout/chevron1"/>
    <dgm:cxn modelId="{C24DAC7E-23FD-46BD-8620-276D2B1287E3}" type="presParOf" srcId="{875FD629-ABC2-4DA3-8CD8-B28303DD84D6}" destId="{D487CA99-2C04-494D-91C6-20BEE68FE810}" srcOrd="9" destOrd="0" presId="urn:microsoft.com/office/officeart/2005/8/layout/chevron1"/>
    <dgm:cxn modelId="{FCDB9CE6-AED8-4BD6-AA1F-CC30D3BA0C70}" type="presParOf" srcId="{875FD629-ABC2-4DA3-8CD8-B28303DD84D6}" destId="{44AFDE3A-A998-48D4-BE10-4E4CF7865E20}" srcOrd="10" destOrd="0" presId="urn:microsoft.com/office/officeart/2005/8/layout/chevron1"/>
    <dgm:cxn modelId="{7BCD11D1-54C6-4127-870E-92C8945CBBFB}" type="presParOf" srcId="{875FD629-ABC2-4DA3-8CD8-B28303DD84D6}" destId="{1E7B02C0-A683-471D-AAA9-0900D62FEFFD}" srcOrd="11" destOrd="0" presId="urn:microsoft.com/office/officeart/2005/8/layout/chevron1"/>
    <dgm:cxn modelId="{38024CC4-84C8-4036-A394-91C671373CD7}" type="presParOf" srcId="{875FD629-ABC2-4DA3-8CD8-B28303DD84D6}" destId="{1B39CF92-E3F6-47F8-A660-EB3F8F4ABEE8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CD394-3552-4D96-8C4F-C9FC6BBDB9C7}">
      <dsp:nvSpPr>
        <dsp:cNvPr id="0" name=""/>
        <dsp:cNvSpPr/>
      </dsp:nvSpPr>
      <dsp:spPr>
        <a:xfrm>
          <a:off x="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Questionnaire developed with validation rules and skip logic.</a:t>
          </a:r>
        </a:p>
      </dsp:txBody>
      <dsp:txXfrm>
        <a:off x="381000" y="2488847"/>
        <a:ext cx="1143000" cy="761999"/>
      </dsp:txXfrm>
    </dsp:sp>
    <dsp:sp modelId="{0BC9A461-D59C-40B2-8892-562441E8E8F2}">
      <dsp:nvSpPr>
        <dsp:cNvPr id="0" name=""/>
        <dsp:cNvSpPr/>
      </dsp:nvSpPr>
      <dsp:spPr>
        <a:xfrm>
          <a:off x="17145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Responses collected through </a:t>
          </a:r>
          <a:r>
            <a:rPr lang="en-US" sz="1000" kern="1200" dirty="0" err="1"/>
            <a:t>KoboToolbox</a:t>
          </a:r>
          <a:r>
            <a:rPr lang="en-US" sz="1000" kern="1200" dirty="0"/>
            <a:t>, </a:t>
          </a:r>
          <a:r>
            <a:rPr lang="en-US" sz="1000" kern="1200" dirty="0" err="1"/>
            <a:t>CommCare</a:t>
          </a:r>
          <a:r>
            <a:rPr lang="en-US" sz="1000" kern="1200" dirty="0"/>
            <a:t>, and Google Forms.</a:t>
          </a:r>
        </a:p>
      </dsp:txBody>
      <dsp:txXfrm>
        <a:off x="2095500" y="2488847"/>
        <a:ext cx="1143000" cy="761999"/>
      </dsp:txXfrm>
    </dsp:sp>
    <dsp:sp modelId="{EC317A5A-7ACC-43B6-A5BD-08ED785EED2F}">
      <dsp:nvSpPr>
        <dsp:cNvPr id="0" name=""/>
        <dsp:cNvSpPr/>
      </dsp:nvSpPr>
      <dsp:spPr>
        <a:xfrm>
          <a:off x="34290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Dataset validated, cleaned, and prepared for analysis.</a:t>
          </a:r>
        </a:p>
      </dsp:txBody>
      <dsp:txXfrm>
        <a:off x="3810000" y="2488847"/>
        <a:ext cx="1143000" cy="761999"/>
      </dsp:txXfrm>
    </dsp:sp>
    <dsp:sp modelId="{79C6AA2C-6179-4FEB-A2EA-90A6CAD05293}">
      <dsp:nvSpPr>
        <dsp:cNvPr id="0" name=""/>
        <dsp:cNvSpPr/>
      </dsp:nvSpPr>
      <dsp:spPr>
        <a:xfrm>
          <a:off x="51435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Descriptive statistics, Pivot Tables, Pivot Charts, and dashboard.</a:t>
          </a:r>
        </a:p>
      </dsp:txBody>
      <dsp:txXfrm>
        <a:off x="5524500" y="2488847"/>
        <a:ext cx="1143000" cy="761999"/>
      </dsp:txXfrm>
    </dsp:sp>
    <dsp:sp modelId="{8089497B-D1FD-4DF7-86DD-0631E3FA3B44}">
      <dsp:nvSpPr>
        <dsp:cNvPr id="0" name=""/>
        <dsp:cNvSpPr/>
      </dsp:nvSpPr>
      <dsp:spPr>
        <a:xfrm>
          <a:off x="68580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Queries used to retrieve, summarise, and validate analytical results.</a:t>
          </a:r>
          <a:endParaRPr lang="en-US" sz="1000" kern="1200" dirty="0"/>
        </a:p>
      </dsp:txBody>
      <dsp:txXfrm>
        <a:off x="7239000" y="2488847"/>
        <a:ext cx="1143000" cy="761999"/>
      </dsp:txXfrm>
    </dsp:sp>
    <dsp:sp modelId="{44AFDE3A-A998-48D4-BE10-4E4CF7865E20}">
      <dsp:nvSpPr>
        <dsp:cNvPr id="0" name=""/>
        <dsp:cNvSpPr/>
      </dsp:nvSpPr>
      <dsp:spPr>
        <a:xfrm>
          <a:off x="85725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Interactive dashboard developed using DAX measures and visualisations.</a:t>
          </a:r>
          <a:endParaRPr lang="en-US" sz="1000" kern="1200" dirty="0"/>
        </a:p>
      </dsp:txBody>
      <dsp:txXfrm>
        <a:off x="8953500" y="2488847"/>
        <a:ext cx="1143000" cy="761999"/>
      </dsp:txXfrm>
    </dsp:sp>
    <dsp:sp modelId="{1B39CF92-E3F6-47F8-A660-EB3F8F4ABEE8}">
      <dsp:nvSpPr>
        <dsp:cNvPr id="0" name=""/>
        <dsp:cNvSpPr/>
      </dsp:nvSpPr>
      <dsp:spPr>
        <a:xfrm>
          <a:off x="10287000" y="2488847"/>
          <a:ext cx="1904999" cy="7619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Findings documented with recommendations and presentation.</a:t>
          </a:r>
        </a:p>
      </dsp:txBody>
      <dsp:txXfrm>
        <a:off x="10668000" y="2488847"/>
        <a:ext cx="1143000" cy="761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A755-70E3-85D1-5FF6-75035C9B5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E68C2-55E5-6787-EAD6-AEFC4B758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E144-AD24-102B-8F83-5C6F50871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09F6B-02BC-48C7-89F5-2E74F296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768E5-43C5-9AB1-114C-8C75389C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6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FBBA-8B92-2C4C-6F9F-824993AA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8920-C528-06CD-E0D8-8D70FFF6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4675F-B74D-0AB3-574B-398C2F7E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88FA3-D434-5174-D822-3CFFA916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A77E5-23B7-97E4-B7C2-4131963B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0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668C-9B05-7F46-14CD-6BF29A90F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F1849-96A7-593D-3213-940917FF5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77A04-0081-DEB5-C7C4-3DD6CA26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99711-169C-FCB8-1C7C-E1213296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C0AD2-7EF9-82BE-D341-C6C3F91F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8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8862-6A56-3DD4-7E01-BC230445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DFD7-377B-BF22-8E8A-E0A0AEA4C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776C9-521E-F5F4-9A37-36DA06B91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607E4-28F8-9670-D78E-1134FD69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26868-659E-F795-68F2-AD84C55C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52A9C-F70F-ACDB-C6A6-31B27A9C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6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E6D9-29D8-C618-A18B-5FB96498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AA2A7-9FCD-E28F-3192-1D227A861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56869-BF80-8CFF-A51B-B8531461C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302DD-D0BD-BFA7-7A68-F1D27EF5B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57B0A8-6058-74EE-83A0-1E271D5EE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2419E-7D30-8B10-9A49-D642FE00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DD2AA-ABDC-6547-B0F3-A9988A98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0D8E4-C88F-22AE-B918-11EF978B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6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45EE3-DC16-ACA7-0935-79B304CE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B4BF9-3800-79C6-6921-394BFB93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0C43E-5F80-5F5D-FC4C-9813550F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98AD0-3C1A-DC5E-E72E-CE1E3F9D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3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796F4-C550-26C2-1FAE-4D5EE3D5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A15E5-63D9-5856-8FE7-03737B95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B03A4-D39D-3B1C-FC27-80C7DAAA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24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FC6C-536F-59E3-CD06-36B15650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6441-0065-704D-B19D-691AE37D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A7F00-B5C1-2316-B7DF-F51958F5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2713-FE94-FE32-3087-4ED662C9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7915E-6F69-E9CA-2582-0E774668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10EE-7086-DFDA-7F05-B5860660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7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C226-BC24-98E1-DE64-EFAFAD4B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B098BB-7687-8FA2-14E9-3852A0FE2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65C58-9E4A-1FCA-D9E3-00D77CDE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86FEC-DB55-83C8-5A4A-F3FB87F4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543F9-CBF6-8A89-DF98-02F187085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8B831-A25D-CEE3-709B-FF431C39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1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D8A2-9452-F839-2041-D292F4C5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D44FD-8544-1176-0447-FF0D7627D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BFC16-5812-B29E-0345-FAAEEDE5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DBE4D-585C-05D0-562D-04230E68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F42ED-135C-EBA6-3838-C6C0B055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3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9025A-6FB5-D259-8A40-9EB6772F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39F9B-6E16-5BEA-072B-F1E83850E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C2B27-109B-CED0-0DB4-260186E4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E8EC4-40F4-E6F5-0984-615348B9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2F3FD-627B-21FB-58BB-6CB97ADE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C057C-72DE-48DC-FB0E-C89D3B4A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AF875-6565-57B7-2766-DA972F9B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A218A-62FE-D386-7A27-F8BC7C64F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578DD-197E-47F1-9530-FA95C6CE424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A7C41-C7F8-4735-62F7-F5F76764F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8C87-40C8-0CF1-47CC-9FC52F21C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A81F8B-BA1C-43CA-A567-08B9BEF20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8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A57A8-B865-287F-13BD-1C23A041F4CD}"/>
              </a:ext>
            </a:extLst>
          </p:cNvPr>
          <p:cNvSpPr txBox="1"/>
          <p:nvPr/>
        </p:nvSpPr>
        <p:spPr>
          <a:xfrm>
            <a:off x="1326383" y="5381944"/>
            <a:ext cx="9264580" cy="3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Excel        |       SQL        |        Power BI       |       </a:t>
            </a:r>
            <a:r>
              <a:rPr lang="en-US" dirty="0" err="1"/>
              <a:t>KoboToolBox</a:t>
            </a:r>
            <a:r>
              <a:rPr lang="en-US" dirty="0"/>
              <a:t>      |      </a:t>
            </a:r>
            <a:r>
              <a:rPr lang="en-US" dirty="0" err="1"/>
              <a:t>CommCare</a:t>
            </a:r>
            <a:r>
              <a:rPr lang="en-US" dirty="0"/>
              <a:t>      |      Google 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631FA-1A4B-B0CC-F81D-55D76BD23E31}"/>
              </a:ext>
            </a:extLst>
          </p:cNvPr>
          <p:cNvSpPr txBox="1"/>
          <p:nvPr/>
        </p:nvSpPr>
        <p:spPr>
          <a:xfrm>
            <a:off x="2510589" y="178639"/>
            <a:ext cx="7236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TVET </a:t>
            </a:r>
            <a:r>
              <a:rPr lang="en-US" sz="36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Impact Assessment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8723E-3E1C-54F6-B4DB-CAD85E2EC41D}"/>
              </a:ext>
            </a:extLst>
          </p:cNvPr>
          <p:cNvSpPr txBox="1"/>
          <p:nvPr/>
        </p:nvSpPr>
        <p:spPr>
          <a:xfrm>
            <a:off x="4395536" y="2687053"/>
            <a:ext cx="34009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Prepared by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Umar Musa Isah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Analytics Bootcamp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August 2026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9FAEA3-9821-352C-FCC5-BA7A5D0C19E5}"/>
              </a:ext>
            </a:extLst>
          </p:cNvPr>
          <p:cNvCxnSpPr/>
          <p:nvPr/>
        </p:nvCxnSpPr>
        <p:spPr>
          <a:xfrm>
            <a:off x="0" y="4763800"/>
            <a:ext cx="12192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CC18622-F353-B0E1-5A0A-3F4E4405B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59" y="5993165"/>
            <a:ext cx="611458" cy="611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09DA64-79EF-2BAD-8E31-F1B5293F6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527" y="5993165"/>
            <a:ext cx="609524" cy="6095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6548ED-D544-FA61-43A5-A3476A0AE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714" y="5993165"/>
            <a:ext cx="609525" cy="609525"/>
          </a:xfrm>
          <a:prstGeom prst="rect">
            <a:avLst/>
          </a:prstGeom>
        </p:spPr>
      </p:pic>
      <p:pic>
        <p:nvPicPr>
          <p:cNvPr id="21" name="Picture 20" descr="A logo with people in the center&#10;&#10;AI-generated content may be incorrect.">
            <a:extLst>
              <a:ext uri="{FF2B5EF4-FFF2-40B4-BE49-F238E27FC236}">
                <a16:creationId xmlns:a16="http://schemas.microsoft.com/office/drawing/2014/main" id="{47416763-FCB7-5E59-38AC-E96D5D88F4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643" y="5847375"/>
            <a:ext cx="1093524" cy="901103"/>
          </a:xfrm>
          <a:prstGeom prst="rect">
            <a:avLst/>
          </a:prstGeom>
        </p:spPr>
      </p:pic>
      <p:pic>
        <p:nvPicPr>
          <p:cNvPr id="23" name="Picture 22" descr="A purple file with text and icons&#10;&#10;AI-generated content may be incorrect.">
            <a:extLst>
              <a:ext uri="{FF2B5EF4-FFF2-40B4-BE49-F238E27FC236}">
                <a16:creationId xmlns:a16="http://schemas.microsoft.com/office/drawing/2014/main" id="{1799DFC5-B4B8-E47E-FB7E-A8F3AFBA45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908" y="5893150"/>
            <a:ext cx="2055074" cy="898182"/>
          </a:xfrm>
          <a:prstGeom prst="rect">
            <a:avLst/>
          </a:prstGeom>
        </p:spPr>
      </p:pic>
      <p:pic>
        <p:nvPicPr>
          <p:cNvPr id="25" name="Picture 24" descr="A blue and black text&#10;&#10;AI-generated content may be incorrect.">
            <a:extLst>
              <a:ext uri="{FF2B5EF4-FFF2-40B4-BE49-F238E27FC236}">
                <a16:creationId xmlns:a16="http://schemas.microsoft.com/office/drawing/2014/main" id="{0C324262-1BBE-BC2C-0C13-3A54FBB0F2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497" y="5993165"/>
            <a:ext cx="1475057" cy="8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64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880BD6-E09A-617F-B967-05E4CCE5F663}"/>
              </a:ext>
            </a:extLst>
          </p:cNvPr>
          <p:cNvSpPr txBox="1"/>
          <p:nvPr/>
        </p:nvSpPr>
        <p:spPr>
          <a:xfrm>
            <a:off x="364257" y="414889"/>
            <a:ext cx="573174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TVET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programmes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equip individuals with practical and employable skills.</a:t>
            </a:r>
          </a:p>
          <a:p>
            <a:pPr algn="just"/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Measuring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outcomes helps determine whether training achieves its intended objectives.</a:t>
            </a:r>
          </a:p>
          <a:p>
            <a:pPr algn="just"/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This assessment evaluates participant experiences, employment outcomes, and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satisfaction using survey data.</a:t>
            </a:r>
          </a:p>
        </p:txBody>
      </p:sp>
      <p:pic>
        <p:nvPicPr>
          <p:cNvPr id="5" name="Picture 4" descr="A group of men in orange vests&#10;&#10;AI-generated content may be incorrect.">
            <a:extLst>
              <a:ext uri="{FF2B5EF4-FFF2-40B4-BE49-F238E27FC236}">
                <a16:creationId xmlns:a16="http://schemas.microsoft.com/office/drawing/2014/main" id="{121C91DD-3522-42B5-044E-97459B913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76" y="1396721"/>
            <a:ext cx="5611167" cy="43043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86319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2BD44-82C5-03FF-EB4F-78C1B2E0241E}"/>
              </a:ext>
            </a:extLst>
          </p:cNvPr>
          <p:cNvSpPr txBox="1"/>
          <p:nvPr/>
        </p:nvSpPr>
        <p:spPr>
          <a:xfrm>
            <a:off x="444639" y="2120932"/>
            <a:ext cx="56513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Limited evidence is often available on the long-term impact of TVET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programmes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managers require reliable data to support planning and decision-making.</a:t>
            </a:r>
          </a:p>
          <a:p>
            <a:pPr algn="just"/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This project applies data analytics to evaluate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performance and identify areas for improvement.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B9CA5-ECDC-2E74-0E03-577D229D2F2D}"/>
              </a:ext>
            </a:extLst>
          </p:cNvPr>
          <p:cNvSpPr txBox="1"/>
          <p:nvPr/>
        </p:nvSpPr>
        <p:spPr>
          <a:xfrm>
            <a:off x="444639" y="553888"/>
            <a:ext cx="4368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pic>
        <p:nvPicPr>
          <p:cNvPr id="7" name="Picture 6" descr="A person sitting at a desk with a computer and graphs&#10;&#10;AI-generated content may be incorrect.">
            <a:extLst>
              <a:ext uri="{FF2B5EF4-FFF2-40B4-BE49-F238E27FC236}">
                <a16:creationId xmlns:a16="http://schemas.microsoft.com/office/drawing/2014/main" id="{87EBBC90-FF08-B784-453E-A1E676A8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97747"/>
            <a:ext cx="5651361" cy="4305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2160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4B041C-FC99-CD0E-D360-C472BFDAB1B4}"/>
              </a:ext>
            </a:extLst>
          </p:cNvPr>
          <p:cNvSpPr/>
          <p:nvPr/>
        </p:nvSpPr>
        <p:spPr>
          <a:xfrm>
            <a:off x="6772588" y="5765767"/>
            <a:ext cx="4709535" cy="75362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49A0C22-C83C-D418-C2C4-F17985DF987B}"/>
              </a:ext>
            </a:extLst>
          </p:cNvPr>
          <p:cNvSpPr/>
          <p:nvPr/>
        </p:nvSpPr>
        <p:spPr>
          <a:xfrm>
            <a:off x="6772588" y="4504674"/>
            <a:ext cx="4709534" cy="75362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FD5B97-7254-EC79-AE7A-9B42D72E1E1A}"/>
              </a:ext>
            </a:extLst>
          </p:cNvPr>
          <p:cNvSpPr/>
          <p:nvPr/>
        </p:nvSpPr>
        <p:spPr>
          <a:xfrm>
            <a:off x="6772586" y="3243581"/>
            <a:ext cx="4709536" cy="75362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66B7E4-94E0-B075-02B7-13D8D26E8117}"/>
              </a:ext>
            </a:extLst>
          </p:cNvPr>
          <p:cNvSpPr/>
          <p:nvPr/>
        </p:nvSpPr>
        <p:spPr>
          <a:xfrm>
            <a:off x="6812782" y="1982488"/>
            <a:ext cx="4709536" cy="75362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90B04-F4B5-F322-495A-C89FE298980D}"/>
              </a:ext>
            </a:extLst>
          </p:cNvPr>
          <p:cNvSpPr txBox="1"/>
          <p:nvPr/>
        </p:nvSpPr>
        <p:spPr>
          <a:xfrm>
            <a:off x="404447" y="554726"/>
            <a:ext cx="569155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Aim</a:t>
            </a:r>
          </a:p>
          <a:p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assess the impact of the TVET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by collecting,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analysing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visualising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participant data to generate evidence that supports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evaluation and informed decision-making.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78DDE1-62C7-EBDB-DFE6-B21D918DAAE3}"/>
              </a:ext>
            </a:extLst>
          </p:cNvPr>
          <p:cNvSpPr/>
          <p:nvPr/>
        </p:nvSpPr>
        <p:spPr>
          <a:xfrm>
            <a:off x="6812782" y="721395"/>
            <a:ext cx="4709533" cy="753626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8FA2F-63F4-CB41-978B-BAEFE0954AF5}"/>
              </a:ext>
            </a:extLst>
          </p:cNvPr>
          <p:cNvSpPr txBox="1"/>
          <p:nvPr/>
        </p:nvSpPr>
        <p:spPr>
          <a:xfrm>
            <a:off x="7522448" y="913542"/>
            <a:ext cx="3148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 reliable survey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B8E30-887D-BD35-9A5A-28798F5D0BAC}"/>
              </a:ext>
            </a:extLst>
          </p:cNvPr>
          <p:cNvSpPr txBox="1"/>
          <p:nvPr/>
        </p:nvSpPr>
        <p:spPr>
          <a:xfrm>
            <a:off x="7405008" y="2174635"/>
            <a:ext cx="3383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Prepare and clean the dataset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A9DF49-0662-A5E8-8527-525E40902A04}"/>
              </a:ext>
            </a:extLst>
          </p:cNvPr>
          <p:cNvSpPr txBox="1"/>
          <p:nvPr/>
        </p:nvSpPr>
        <p:spPr>
          <a:xfrm>
            <a:off x="6897564" y="4696821"/>
            <a:ext cx="4318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Build an interactive Power BI 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F93BE-DB94-754A-ADD8-3137737C012A}"/>
              </a:ext>
            </a:extLst>
          </p:cNvPr>
          <p:cNvSpPr txBox="1"/>
          <p:nvPr/>
        </p:nvSpPr>
        <p:spPr>
          <a:xfrm>
            <a:off x="6851092" y="5957161"/>
            <a:ext cx="46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Provide evidence-based recommendations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8DD7F-B21D-09F8-0EC0-D84100077CF2}"/>
              </a:ext>
            </a:extLst>
          </p:cNvPr>
          <p:cNvSpPr txBox="1"/>
          <p:nvPr/>
        </p:nvSpPr>
        <p:spPr>
          <a:xfrm>
            <a:off x="6772585" y="3435728"/>
            <a:ext cx="4850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Analyse</a:t>
            </a:r>
            <a:r>
              <a:rPr lang="en-US" dirty="0"/>
              <a:t> responses using Excel and SQL Server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0844F5-C900-54E4-EA3A-7D5B13DA9673}"/>
              </a:ext>
            </a:extLst>
          </p:cNvPr>
          <p:cNvCxnSpPr/>
          <p:nvPr/>
        </p:nvCxnSpPr>
        <p:spPr>
          <a:xfrm>
            <a:off x="8963130" y="1475021"/>
            <a:ext cx="0" cy="33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61E544-1964-9A32-58F1-729191374263}"/>
              </a:ext>
            </a:extLst>
          </p:cNvPr>
          <p:cNvCxnSpPr/>
          <p:nvPr/>
        </p:nvCxnSpPr>
        <p:spPr>
          <a:xfrm>
            <a:off x="8963130" y="2736114"/>
            <a:ext cx="0" cy="33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35B2E7-6607-A9B3-B61A-A0B5111F250E}"/>
              </a:ext>
            </a:extLst>
          </p:cNvPr>
          <p:cNvCxnSpPr/>
          <p:nvPr/>
        </p:nvCxnSpPr>
        <p:spPr>
          <a:xfrm>
            <a:off x="8954757" y="3997207"/>
            <a:ext cx="0" cy="33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D23536-332A-FD39-3E33-596520F7E218}"/>
              </a:ext>
            </a:extLst>
          </p:cNvPr>
          <p:cNvCxnSpPr/>
          <p:nvPr/>
        </p:nvCxnSpPr>
        <p:spPr>
          <a:xfrm>
            <a:off x="8984902" y="5258300"/>
            <a:ext cx="0" cy="333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person on a dart going up a dart board&#10;&#10;AI-generated content may be incorrect.">
            <a:extLst>
              <a:ext uri="{FF2B5EF4-FFF2-40B4-BE49-F238E27FC236}">
                <a16:creationId xmlns:a16="http://schemas.microsoft.com/office/drawing/2014/main" id="{28E561BD-4698-EAD0-1686-DEE531A9B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488" y="4137163"/>
            <a:ext cx="3760648" cy="27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4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70AF0-C8CF-609D-386C-935F27BC3C5A}"/>
              </a:ext>
            </a:extLst>
          </p:cNvPr>
          <p:cNvSpPr txBox="1"/>
          <p:nvPr/>
        </p:nvSpPr>
        <p:spPr>
          <a:xfrm>
            <a:off x="464737" y="403162"/>
            <a:ext cx="4519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Project Methodology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8EBE8B-39A0-2827-6B02-B704D559B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970847"/>
              </p:ext>
            </p:extLst>
          </p:nvPr>
        </p:nvGraphicFramePr>
        <p:xfrm>
          <a:off x="1494" y="964641"/>
          <a:ext cx="12192000" cy="573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B8BF387-7618-6276-F6A4-462086EB3C3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13299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6381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A6731CF-1D8F-050F-0569-403C8B6AB766}"/>
              </a:ext>
            </a:extLst>
          </p:cNvPr>
          <p:cNvSpPr txBox="1"/>
          <p:nvPr/>
        </p:nvSpPr>
        <p:spPr>
          <a:xfrm>
            <a:off x="10056726" y="2670254"/>
            <a:ext cx="1954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📄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Reporting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816807-96FB-D465-5973-74390872154F}"/>
              </a:ext>
            </a:extLst>
          </p:cNvPr>
          <p:cNvSpPr txBox="1"/>
          <p:nvPr/>
        </p:nvSpPr>
        <p:spPr>
          <a:xfrm>
            <a:off x="8187242" y="2585352"/>
            <a:ext cx="19544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📈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Power BI</a:t>
            </a:r>
          </a:p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Dashboard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1CFD52-8B3F-9F94-B6D7-C11804BFAE71}"/>
              </a:ext>
            </a:extLst>
          </p:cNvPr>
          <p:cNvSpPr txBox="1"/>
          <p:nvPr/>
        </p:nvSpPr>
        <p:spPr>
          <a:xfrm>
            <a:off x="7015489" y="2575648"/>
            <a:ext cx="1518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🗄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SQL 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Analysis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5B5CC-4D2E-C81E-61EA-C74564493C9B}"/>
              </a:ext>
            </a:extLst>
          </p:cNvPr>
          <p:cNvSpPr txBox="1"/>
          <p:nvPr/>
        </p:nvSpPr>
        <p:spPr>
          <a:xfrm>
            <a:off x="4951219" y="2587700"/>
            <a:ext cx="1724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📊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Excel </a:t>
            </a:r>
          </a:p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Analysis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F26EBC-1872-887E-C57B-02B3D28547CF}"/>
              </a:ext>
            </a:extLst>
          </p:cNvPr>
          <p:cNvSpPr txBox="1"/>
          <p:nvPr/>
        </p:nvSpPr>
        <p:spPr>
          <a:xfrm>
            <a:off x="3586152" y="2587700"/>
            <a:ext cx="15903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🧹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Cleaning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F60E2D-F3D6-5012-72CA-8A9912E8FE48}"/>
              </a:ext>
            </a:extLst>
          </p:cNvPr>
          <p:cNvSpPr txBox="1"/>
          <p:nvPr/>
        </p:nvSpPr>
        <p:spPr>
          <a:xfrm>
            <a:off x="1967580" y="2595976"/>
            <a:ext cx="1518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📱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Collection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41AB22-2F2F-4F64-F1E6-B03B5B06C321}"/>
              </a:ext>
            </a:extLst>
          </p:cNvPr>
          <p:cNvSpPr txBox="1"/>
          <p:nvPr/>
        </p:nvSpPr>
        <p:spPr>
          <a:xfrm>
            <a:off x="78894" y="2591514"/>
            <a:ext cx="15186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📋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Survey 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Design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99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with people in the center&#10;&#10;AI-generated content may be incorrect.">
            <a:extLst>
              <a:ext uri="{FF2B5EF4-FFF2-40B4-BE49-F238E27FC236}">
                <a16:creationId xmlns:a16="http://schemas.microsoft.com/office/drawing/2014/main" id="{47293093-AF10-BF38-5FB1-728D55D5A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047" y="1174569"/>
            <a:ext cx="3336053" cy="2000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purple file with text and icons&#10;&#10;AI-generated content may be incorrect.">
            <a:extLst>
              <a:ext uri="{FF2B5EF4-FFF2-40B4-BE49-F238E27FC236}">
                <a16:creationId xmlns:a16="http://schemas.microsoft.com/office/drawing/2014/main" id="{AF21FF26-BEAC-9533-EDA5-48AB091C1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707" y="1174569"/>
            <a:ext cx="3336053" cy="2000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blue and black text&#10;&#10;AI-generated content may be incorrect.">
            <a:extLst>
              <a:ext uri="{FF2B5EF4-FFF2-40B4-BE49-F238E27FC236}">
                <a16:creationId xmlns:a16="http://schemas.microsoft.com/office/drawing/2014/main" id="{FC970EC1-EC54-80F8-8887-1C627A52EB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82" y="1174569"/>
            <a:ext cx="3649958" cy="2000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B3727F-5ED0-6A52-7711-4ACB088296FE}"/>
              </a:ext>
            </a:extLst>
          </p:cNvPr>
          <p:cNvSpPr txBox="1"/>
          <p:nvPr/>
        </p:nvSpPr>
        <p:spPr>
          <a:xfrm>
            <a:off x="302358" y="393114"/>
            <a:ext cx="7021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Collection &amp;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86428-FB7D-B0ED-A2D3-4FC403735AB1}"/>
              </a:ext>
            </a:extLst>
          </p:cNvPr>
          <p:cNvSpPr txBox="1"/>
          <p:nvPr/>
        </p:nvSpPr>
        <p:spPr>
          <a:xfrm>
            <a:off x="4891454" y="3310411"/>
            <a:ext cx="24090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KoboToolbox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↓</a:t>
            </a:r>
          </a:p>
          <a:p>
            <a:pPr algn="ctr"/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CommCare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↓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Google Form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↓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Exported Data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↓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Microsoft Excel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↓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Cleaned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F24FB8-B893-F06D-4974-DC52275BF304}"/>
              </a:ext>
            </a:extLst>
          </p:cNvPr>
          <p:cNvSpPr txBox="1"/>
          <p:nvPr/>
        </p:nvSpPr>
        <p:spPr>
          <a:xfrm>
            <a:off x="3710354" y="6488668"/>
            <a:ext cx="5041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Final Dataset Used for Analysis: 54 Valid Responses</a:t>
            </a:r>
          </a:p>
        </p:txBody>
      </p:sp>
    </p:spTree>
    <p:extLst>
      <p:ext uri="{BB962C8B-B14F-4D97-AF65-F5344CB8AC3E}">
        <p14:creationId xmlns:p14="http://schemas.microsoft.com/office/powerpoint/2010/main" val="205042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A6236C-004C-5288-8950-03420C2DA46F}"/>
              </a:ext>
            </a:extLst>
          </p:cNvPr>
          <p:cNvSpPr/>
          <p:nvPr/>
        </p:nvSpPr>
        <p:spPr>
          <a:xfrm>
            <a:off x="897441" y="1033107"/>
            <a:ext cx="2642925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 Workflow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45246B-EE46-8157-EC87-FB8ACD8CD0F3}"/>
              </a:ext>
            </a:extLst>
          </p:cNvPr>
          <p:cNvSpPr/>
          <p:nvPr/>
        </p:nvSpPr>
        <p:spPr>
          <a:xfrm>
            <a:off x="897442" y="2224402"/>
            <a:ext cx="2642925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55DA7C-7830-28D1-67E9-05E38C5E3C19}"/>
              </a:ext>
            </a:extLst>
          </p:cNvPr>
          <p:cNvSpPr/>
          <p:nvPr/>
        </p:nvSpPr>
        <p:spPr>
          <a:xfrm>
            <a:off x="897443" y="3363573"/>
            <a:ext cx="2642925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A86312-893A-EC25-F636-6C7AA8E489EC}"/>
              </a:ext>
            </a:extLst>
          </p:cNvPr>
          <p:cNvSpPr/>
          <p:nvPr/>
        </p:nvSpPr>
        <p:spPr>
          <a:xfrm>
            <a:off x="897443" y="4532893"/>
            <a:ext cx="2642925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66793-19B3-EDE6-CB28-BF7D7A277200}"/>
              </a:ext>
            </a:extLst>
          </p:cNvPr>
          <p:cNvSpPr/>
          <p:nvPr/>
        </p:nvSpPr>
        <p:spPr>
          <a:xfrm>
            <a:off x="897443" y="5712262"/>
            <a:ext cx="2642925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684A5F-232F-B316-FF2E-8D67E22BB85F}"/>
              </a:ext>
            </a:extLst>
          </p:cNvPr>
          <p:cNvSpPr txBox="1"/>
          <p:nvPr/>
        </p:nvSpPr>
        <p:spPr>
          <a:xfrm>
            <a:off x="404446" y="342872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Analysis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DF90C-14B9-4AB6-21D2-0CF05BDD510D}"/>
              </a:ext>
            </a:extLst>
          </p:cNvPr>
          <p:cNvSpPr txBox="1"/>
          <p:nvPr/>
        </p:nvSpPr>
        <p:spPr>
          <a:xfrm>
            <a:off x="942871" y="1157628"/>
            <a:ext cx="2597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54 validated responses</a:t>
            </a:r>
          </a:p>
          <a:p>
            <a:r>
              <a:rPr lang="en-US" sz="1600" dirty="0"/>
              <a:t>• Duplicate-free</a:t>
            </a:r>
          </a:p>
          <a:p>
            <a:r>
              <a:rPr lang="en-US" sz="1600" dirty="0"/>
              <a:t>• Ready for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C18627-77EE-D563-A578-089D9EAF5FAD}"/>
              </a:ext>
            </a:extLst>
          </p:cNvPr>
          <p:cNvSpPr txBox="1"/>
          <p:nvPr/>
        </p:nvSpPr>
        <p:spPr>
          <a:xfrm>
            <a:off x="3871130" y="1420261"/>
            <a:ext cx="2399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🗂 </a:t>
            </a:r>
            <a:r>
              <a:rPr lang="en-US" b="1" dirty="0"/>
              <a:t>Cleaned Dataset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0D56C-F306-E768-5565-BDA1F32518A1}"/>
              </a:ext>
            </a:extLst>
          </p:cNvPr>
          <p:cNvSpPr txBox="1"/>
          <p:nvPr/>
        </p:nvSpPr>
        <p:spPr>
          <a:xfrm>
            <a:off x="3871130" y="2570666"/>
            <a:ext cx="2399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📊 </a:t>
            </a:r>
            <a:r>
              <a:rPr lang="en-US" b="1" dirty="0"/>
              <a:t>Microsoft Excel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61B0CE-FB67-B899-4056-564ACA671176}"/>
              </a:ext>
            </a:extLst>
          </p:cNvPr>
          <p:cNvSpPr txBox="1"/>
          <p:nvPr/>
        </p:nvSpPr>
        <p:spPr>
          <a:xfrm>
            <a:off x="942871" y="2202427"/>
            <a:ext cx="23990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Data validation</a:t>
            </a:r>
          </a:p>
          <a:p>
            <a:r>
              <a:rPr lang="en-US" sz="1600" dirty="0"/>
              <a:t>• Frequency analysis</a:t>
            </a:r>
          </a:p>
          <a:p>
            <a:r>
              <a:rPr lang="en-US" sz="1600" dirty="0"/>
              <a:t>• Pivot Tables</a:t>
            </a:r>
          </a:p>
          <a:p>
            <a:r>
              <a:rPr lang="en-US" sz="1600" dirty="0"/>
              <a:t>• Pivot Charts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8C7D16-6120-7199-994B-09803681F909}"/>
              </a:ext>
            </a:extLst>
          </p:cNvPr>
          <p:cNvSpPr txBox="1"/>
          <p:nvPr/>
        </p:nvSpPr>
        <p:spPr>
          <a:xfrm>
            <a:off x="942871" y="3330612"/>
            <a:ext cx="19971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Data querying</a:t>
            </a:r>
          </a:p>
          <a:p>
            <a:r>
              <a:rPr lang="en-US" sz="1600" dirty="0"/>
              <a:t>• Aggregation</a:t>
            </a:r>
          </a:p>
          <a:p>
            <a:r>
              <a:rPr lang="en-US" sz="1600" dirty="0"/>
              <a:t>• Trend analysis</a:t>
            </a:r>
          </a:p>
          <a:p>
            <a:r>
              <a:rPr lang="en-US" sz="1600" dirty="0"/>
              <a:t>• Query validation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0AB665-1DB5-376A-1208-A306E521D73F}"/>
              </a:ext>
            </a:extLst>
          </p:cNvPr>
          <p:cNvSpPr txBox="1"/>
          <p:nvPr/>
        </p:nvSpPr>
        <p:spPr>
          <a:xfrm>
            <a:off x="3931419" y="3740388"/>
            <a:ext cx="1985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🗄 </a:t>
            </a:r>
            <a:r>
              <a:rPr lang="en-US" b="1" dirty="0"/>
              <a:t>SQL Server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3ED38C-67DE-2418-0A87-F191EAB9E024}"/>
              </a:ext>
            </a:extLst>
          </p:cNvPr>
          <p:cNvSpPr txBox="1"/>
          <p:nvPr/>
        </p:nvSpPr>
        <p:spPr>
          <a:xfrm>
            <a:off x="942871" y="4511773"/>
            <a:ext cx="23990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Data modelling</a:t>
            </a:r>
          </a:p>
          <a:p>
            <a:r>
              <a:rPr lang="en-US" sz="1600" dirty="0"/>
              <a:t>• DAX measures</a:t>
            </a:r>
          </a:p>
          <a:p>
            <a:r>
              <a:rPr lang="en-US" sz="1600" dirty="0"/>
              <a:t>• Interactive dashboard</a:t>
            </a:r>
          </a:p>
          <a:p>
            <a:r>
              <a:rPr lang="en-US" sz="1600" dirty="0"/>
              <a:t>• KPI visualization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CD80BA-F52F-0A3C-9BBD-EAF5EB274410}"/>
              </a:ext>
            </a:extLst>
          </p:cNvPr>
          <p:cNvSpPr txBox="1"/>
          <p:nvPr/>
        </p:nvSpPr>
        <p:spPr>
          <a:xfrm>
            <a:off x="3871130" y="4920440"/>
            <a:ext cx="1635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📈 </a:t>
            </a:r>
            <a:r>
              <a:rPr lang="en-US" b="1" dirty="0"/>
              <a:t>Power BI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EF9ED2-4820-D0A1-2D7A-CE035DC5B26A}"/>
              </a:ext>
            </a:extLst>
          </p:cNvPr>
          <p:cNvSpPr txBox="1"/>
          <p:nvPr/>
        </p:nvSpPr>
        <p:spPr>
          <a:xfrm>
            <a:off x="942871" y="5814252"/>
            <a:ext cx="21478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Key findings</a:t>
            </a:r>
          </a:p>
          <a:p>
            <a:r>
              <a:rPr lang="en-US" sz="1600" dirty="0"/>
              <a:t>• Recommendations</a:t>
            </a:r>
          </a:p>
          <a:p>
            <a:r>
              <a:rPr lang="en-US" sz="1600" dirty="0"/>
              <a:t>• Decision support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D3356E-E035-DEB9-E42D-3F72668ED0D0}"/>
              </a:ext>
            </a:extLst>
          </p:cNvPr>
          <p:cNvSpPr txBox="1"/>
          <p:nvPr/>
        </p:nvSpPr>
        <p:spPr>
          <a:xfrm>
            <a:off x="3871131" y="6047658"/>
            <a:ext cx="1516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💡 </a:t>
            </a:r>
            <a:r>
              <a:rPr lang="en-US" b="1" dirty="0"/>
              <a:t>Insights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4AD592-C160-0A42-D4E2-B6E6B85707E6}"/>
              </a:ext>
            </a:extLst>
          </p:cNvPr>
          <p:cNvSpPr txBox="1"/>
          <p:nvPr/>
        </p:nvSpPr>
        <p:spPr>
          <a:xfrm>
            <a:off x="6661222" y="2909391"/>
            <a:ext cx="4483238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cleaned dataset was </a:t>
            </a:r>
            <a:r>
              <a:rPr lang="en-US" dirty="0" err="1"/>
              <a:t>analysed</a:t>
            </a:r>
            <a:r>
              <a:rPr lang="en-US" dirty="0"/>
              <a:t> using Microsoft Excel, SQL Server, and Power BI to generate reliable insights for </a:t>
            </a:r>
            <a:r>
              <a:rPr lang="en-US" dirty="0" err="1"/>
              <a:t>programme</a:t>
            </a:r>
            <a:r>
              <a:rPr lang="en-US" dirty="0"/>
              <a:t> evaluation.</a:t>
            </a:r>
          </a:p>
        </p:txBody>
      </p:sp>
    </p:spTree>
    <p:extLst>
      <p:ext uri="{BB962C8B-B14F-4D97-AF65-F5344CB8AC3E}">
        <p14:creationId xmlns:p14="http://schemas.microsoft.com/office/powerpoint/2010/main" val="127062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EB23F-0649-6664-614A-5E9384921714}"/>
              </a:ext>
            </a:extLst>
          </p:cNvPr>
          <p:cNvSpPr txBox="1"/>
          <p:nvPr/>
        </p:nvSpPr>
        <p:spPr>
          <a:xfrm>
            <a:off x="484833" y="483549"/>
            <a:ext cx="3253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Findings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E121C-A171-A047-1026-BE1E3B0F4A20}"/>
              </a:ext>
            </a:extLst>
          </p:cNvPr>
          <p:cNvSpPr txBox="1"/>
          <p:nvPr/>
        </p:nvSpPr>
        <p:spPr>
          <a:xfrm>
            <a:off x="876718" y="1303498"/>
            <a:ext cx="561116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✓ A total of 54 valid responses were </a:t>
            </a:r>
            <a:r>
              <a:rPr lang="en-US" sz="1600" dirty="0" err="1"/>
              <a:t>analysed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✓ Male respondents accounted for 55.6%, while females represented 44.4%.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✓ Self-employment was the most common employment outcome (70.4%).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✓ Participants reported high overall satisfaction with the TVET </a:t>
            </a:r>
            <a:r>
              <a:rPr lang="en-US" sz="1600" dirty="0" err="1"/>
              <a:t>programme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✓ Most respondents indicated they would recommend the </a:t>
            </a:r>
            <a:r>
              <a:rPr lang="en-US" sz="1600" dirty="0" err="1"/>
              <a:t>programme</a:t>
            </a:r>
            <a:r>
              <a:rPr lang="en-US" sz="1600" dirty="0"/>
              <a:t> to others.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26EB986-14B9-4F9B-BDF8-A31D926C8C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9084802"/>
              </p:ext>
            </p:extLst>
          </p:nvPr>
        </p:nvGraphicFramePr>
        <p:xfrm>
          <a:off x="6732393" y="864159"/>
          <a:ext cx="5065206" cy="2397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F28E12B-8926-4A9C-A186-88F29D2D4F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462416"/>
              </p:ext>
            </p:extLst>
          </p:nvPr>
        </p:nvGraphicFramePr>
        <p:xfrm>
          <a:off x="6732392" y="3429000"/>
          <a:ext cx="5065207" cy="2244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7947D9-7956-6E87-8B72-F65CA3F4D074}"/>
              </a:ext>
            </a:extLst>
          </p:cNvPr>
          <p:cNvSpPr txBox="1"/>
          <p:nvPr/>
        </p:nvSpPr>
        <p:spPr>
          <a:xfrm>
            <a:off x="325317" y="5768531"/>
            <a:ext cx="11543880" cy="10772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Key Insight</a:t>
            </a:r>
          </a:p>
          <a:p>
            <a:endParaRPr lang="en-US" sz="1600" dirty="0"/>
          </a:p>
          <a:p>
            <a:r>
              <a:rPr lang="en-US" sz="1600" dirty="0"/>
              <a:t>The findings suggest that the TVET </a:t>
            </a:r>
            <a:r>
              <a:rPr lang="en-US" sz="1600" dirty="0" err="1"/>
              <a:t>programme</a:t>
            </a:r>
            <a:r>
              <a:rPr lang="en-US" sz="1600" dirty="0"/>
              <a:t> has contributed positively to participants' employment outcomes and overall satisfaction, with self-employment emerging as the dominant outcome among respondents.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9E49C-4029-88DC-2457-6BDFAA780F25}"/>
              </a:ext>
            </a:extLst>
          </p:cNvPr>
          <p:cNvSpPr txBox="1"/>
          <p:nvPr/>
        </p:nvSpPr>
        <p:spPr>
          <a:xfrm>
            <a:off x="128118" y="4091868"/>
            <a:ext cx="69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AEA5E-A681-7CEA-763F-8CF68EB573AC}"/>
              </a:ext>
            </a:extLst>
          </p:cNvPr>
          <p:cNvSpPr txBox="1"/>
          <p:nvPr/>
        </p:nvSpPr>
        <p:spPr>
          <a:xfrm>
            <a:off x="164541" y="3339295"/>
            <a:ext cx="600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😊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C795D-77FB-E6B1-957F-D41D8F609D24}"/>
              </a:ext>
            </a:extLst>
          </p:cNvPr>
          <p:cNvSpPr txBox="1"/>
          <p:nvPr/>
        </p:nvSpPr>
        <p:spPr>
          <a:xfrm>
            <a:off x="144026" y="2605321"/>
            <a:ext cx="580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💼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4AF6D10-A2FC-2788-F0D5-C3B06EBDD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313952"/>
              </p:ext>
            </p:extLst>
          </p:nvPr>
        </p:nvGraphicFramePr>
        <p:xfrm>
          <a:off x="220226" y="1879196"/>
          <a:ext cx="427892" cy="365760"/>
        </p:xfrm>
        <a:graphic>
          <a:graphicData uri="http://schemas.openxmlformats.org/drawingml/2006/table">
            <a:tbl>
              <a:tblPr/>
              <a:tblGrid>
                <a:gridCol w="427892">
                  <a:extLst>
                    <a:ext uri="{9D8B030D-6E8A-4147-A177-3AD203B41FA5}">
                      <a16:colId xmlns:a16="http://schemas.microsoft.com/office/drawing/2014/main" val="3677849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67032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7D75849-A984-CA6B-766E-5417CF31998D}"/>
              </a:ext>
            </a:extLst>
          </p:cNvPr>
          <p:cNvSpPr txBox="1"/>
          <p:nvPr/>
        </p:nvSpPr>
        <p:spPr>
          <a:xfrm>
            <a:off x="185895" y="1289807"/>
            <a:ext cx="69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👥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4ADBE5-79E6-AD99-0064-9845F34847C9}"/>
              </a:ext>
            </a:extLst>
          </p:cNvPr>
          <p:cNvSpPr/>
          <p:nvPr/>
        </p:nvSpPr>
        <p:spPr>
          <a:xfrm>
            <a:off x="325316" y="5010508"/>
            <a:ext cx="1706965" cy="67609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5F4B2A-A45D-3EFE-AD8B-F19D37DB2B90}"/>
              </a:ext>
            </a:extLst>
          </p:cNvPr>
          <p:cNvSpPr/>
          <p:nvPr/>
        </p:nvSpPr>
        <p:spPr>
          <a:xfrm>
            <a:off x="2518156" y="5006889"/>
            <a:ext cx="1706965" cy="67609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E2E2CE-A148-E560-679E-8AFACBD788BA}"/>
              </a:ext>
            </a:extLst>
          </p:cNvPr>
          <p:cNvSpPr/>
          <p:nvPr/>
        </p:nvSpPr>
        <p:spPr>
          <a:xfrm>
            <a:off x="4608012" y="5000062"/>
            <a:ext cx="1706965" cy="67609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E7AEF5-674D-ADF1-0948-93ACF3D6BBD0}"/>
              </a:ext>
            </a:extLst>
          </p:cNvPr>
          <p:cNvSpPr txBox="1"/>
          <p:nvPr/>
        </p:nvSpPr>
        <p:spPr>
          <a:xfrm>
            <a:off x="396912" y="5034987"/>
            <a:ext cx="163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👥 54 </a:t>
            </a:r>
          </a:p>
          <a:p>
            <a:r>
              <a:rPr lang="en-US" dirty="0"/>
              <a:t>Respondents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CBA634-0761-89C6-D3BE-DF47794DF733}"/>
              </a:ext>
            </a:extLst>
          </p:cNvPr>
          <p:cNvSpPr txBox="1"/>
          <p:nvPr/>
        </p:nvSpPr>
        <p:spPr>
          <a:xfrm>
            <a:off x="2553953" y="5045453"/>
            <a:ext cx="163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💼 70.4% Self-employed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A53AC9-9B57-4811-43FC-A09BDAA94128}"/>
              </a:ext>
            </a:extLst>
          </p:cNvPr>
          <p:cNvSpPr txBox="1"/>
          <p:nvPr/>
        </p:nvSpPr>
        <p:spPr>
          <a:xfrm>
            <a:off x="4608010" y="5010508"/>
            <a:ext cx="163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😊 High Satisfaction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23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35923-95CE-6BB8-F553-5ECEC12D4C3D}"/>
              </a:ext>
            </a:extLst>
          </p:cNvPr>
          <p:cNvSpPr txBox="1"/>
          <p:nvPr/>
        </p:nvSpPr>
        <p:spPr>
          <a:xfrm>
            <a:off x="354204" y="259309"/>
            <a:ext cx="6719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Interactive Dashboard Highlights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BEC46-566F-B254-2806-E6AD7CF0ED3E}"/>
              </a:ext>
            </a:extLst>
          </p:cNvPr>
          <p:cNvSpPr txBox="1"/>
          <p:nvPr/>
        </p:nvSpPr>
        <p:spPr>
          <a:xfrm>
            <a:off x="224413" y="2230037"/>
            <a:ext cx="39452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The Power BI dashboard provides an interactive view of the survey results, enabling users to monitor: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Gender Distribution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Employment Status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Training Outcomes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Income Improvement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Participant Satisfaction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• </a:t>
            </a:r>
            <a:r>
              <a:rPr lang="en-US" sz="1600" dirty="0" err="1"/>
              <a:t>Programme</a:t>
            </a:r>
            <a:r>
              <a:rPr lang="en-US" sz="1600" dirty="0"/>
              <a:t>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2DA53-9720-E4DC-E2D7-6A37D17957B5}"/>
              </a:ext>
            </a:extLst>
          </p:cNvPr>
          <p:cNvSpPr txBox="1"/>
          <p:nvPr/>
        </p:nvSpPr>
        <p:spPr>
          <a:xfrm>
            <a:off x="2274695" y="6141720"/>
            <a:ext cx="780380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Interactive dashboards transform survey data into clear, actionable insights that support evidence-based </a:t>
            </a:r>
            <a:r>
              <a:rPr lang="en-US" dirty="0" err="1"/>
              <a:t>programme</a:t>
            </a:r>
            <a:r>
              <a:rPr lang="en-US" dirty="0"/>
              <a:t> monitoring and decision-making.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1FE93-2984-665B-06E5-5EA12038E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878" y="2081774"/>
            <a:ext cx="7676941" cy="39339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97EE85-C8A9-E18C-32E9-E01B30031DFA}"/>
              </a:ext>
            </a:extLst>
          </p:cNvPr>
          <p:cNvSpPr/>
          <p:nvPr/>
        </p:nvSpPr>
        <p:spPr>
          <a:xfrm>
            <a:off x="224413" y="1160447"/>
            <a:ext cx="1602082" cy="787391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96815-105E-DEC0-9970-0A27E89E5364}"/>
              </a:ext>
            </a:extLst>
          </p:cNvPr>
          <p:cNvSpPr/>
          <p:nvPr/>
        </p:nvSpPr>
        <p:spPr>
          <a:xfrm>
            <a:off x="3432711" y="1165166"/>
            <a:ext cx="1706965" cy="79804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148F8C-7AC3-01ED-DCEC-87BE3E137907}"/>
              </a:ext>
            </a:extLst>
          </p:cNvPr>
          <p:cNvSpPr/>
          <p:nvPr/>
        </p:nvSpPr>
        <p:spPr>
          <a:xfrm>
            <a:off x="6925773" y="1160447"/>
            <a:ext cx="1706965" cy="81434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C16C9-EA35-0AF5-F73C-E3D3D19864AA}"/>
              </a:ext>
            </a:extLst>
          </p:cNvPr>
          <p:cNvSpPr txBox="1"/>
          <p:nvPr/>
        </p:nvSpPr>
        <p:spPr>
          <a:xfrm>
            <a:off x="309509" y="1260756"/>
            <a:ext cx="1534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👥 54 </a:t>
            </a:r>
          </a:p>
          <a:p>
            <a:r>
              <a:rPr lang="en-US" dirty="0"/>
              <a:t>Respondents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A97EB-143B-E9AA-A179-67BA0D779F10}"/>
              </a:ext>
            </a:extLst>
          </p:cNvPr>
          <p:cNvSpPr txBox="1"/>
          <p:nvPr/>
        </p:nvSpPr>
        <p:spPr>
          <a:xfrm>
            <a:off x="3437110" y="1255147"/>
            <a:ext cx="163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💼 70.4% Self-employed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DDB049-B17D-3D05-5B82-5248EE2AC961}"/>
              </a:ext>
            </a:extLst>
          </p:cNvPr>
          <p:cNvSpPr txBox="1"/>
          <p:nvPr/>
        </p:nvSpPr>
        <p:spPr>
          <a:xfrm>
            <a:off x="6961570" y="1241204"/>
            <a:ext cx="1635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😊 High Satisfaction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CBCAE2-A0F0-78D1-336C-21D54E0E5A5B}"/>
              </a:ext>
            </a:extLst>
          </p:cNvPr>
          <p:cNvSpPr/>
          <p:nvPr/>
        </p:nvSpPr>
        <p:spPr>
          <a:xfrm>
            <a:off x="10256854" y="1053470"/>
            <a:ext cx="1706965" cy="81434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9BBB6B-D469-73E8-36AD-2D7B167BBDFA}"/>
              </a:ext>
            </a:extLst>
          </p:cNvPr>
          <p:cNvSpPr txBox="1"/>
          <p:nvPr/>
        </p:nvSpPr>
        <p:spPr>
          <a:xfrm>
            <a:off x="10292651" y="1134227"/>
            <a:ext cx="16711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👍 Strong Recommendation Rate</a:t>
            </a:r>
          </a:p>
        </p:txBody>
      </p:sp>
    </p:spTree>
    <p:extLst>
      <p:ext uri="{BB962C8B-B14F-4D97-AF65-F5344CB8AC3E}">
        <p14:creationId xmlns:p14="http://schemas.microsoft.com/office/powerpoint/2010/main" val="145208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F8813A-F76E-E068-0A4D-6EE72805841A}"/>
              </a:ext>
            </a:extLst>
          </p:cNvPr>
          <p:cNvSpPr txBox="1"/>
          <p:nvPr/>
        </p:nvSpPr>
        <p:spPr>
          <a:xfrm>
            <a:off x="434591" y="400323"/>
            <a:ext cx="4318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507578-575F-FE97-4601-01EFF6BEE253}"/>
              </a:ext>
            </a:extLst>
          </p:cNvPr>
          <p:cNvSpPr/>
          <p:nvPr/>
        </p:nvSpPr>
        <p:spPr>
          <a:xfrm>
            <a:off x="7439132" y="1039446"/>
            <a:ext cx="3032090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BCC4E8-16C7-F8F8-F1EA-A55E1A32A071}"/>
              </a:ext>
            </a:extLst>
          </p:cNvPr>
          <p:cNvSpPr/>
          <p:nvPr/>
        </p:nvSpPr>
        <p:spPr>
          <a:xfrm>
            <a:off x="7439130" y="2201702"/>
            <a:ext cx="3041299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408E3C-238A-B501-ECD5-71E80C9E0EFF}"/>
              </a:ext>
            </a:extLst>
          </p:cNvPr>
          <p:cNvSpPr/>
          <p:nvPr/>
        </p:nvSpPr>
        <p:spPr>
          <a:xfrm>
            <a:off x="7439130" y="3389099"/>
            <a:ext cx="3041299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BE1961-C078-E60C-B047-17010E1960BD}"/>
              </a:ext>
            </a:extLst>
          </p:cNvPr>
          <p:cNvSpPr/>
          <p:nvPr/>
        </p:nvSpPr>
        <p:spPr>
          <a:xfrm>
            <a:off x="7439131" y="4555818"/>
            <a:ext cx="3041299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98538D-FCDE-D3DE-821F-9DB8F244E660}"/>
              </a:ext>
            </a:extLst>
          </p:cNvPr>
          <p:cNvSpPr/>
          <p:nvPr/>
        </p:nvSpPr>
        <p:spPr>
          <a:xfrm>
            <a:off x="7439132" y="5722537"/>
            <a:ext cx="3032090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B75F1-4E04-8F72-479C-6B2D8E9E265A}"/>
              </a:ext>
            </a:extLst>
          </p:cNvPr>
          <p:cNvSpPr txBox="1"/>
          <p:nvPr/>
        </p:nvSpPr>
        <p:spPr>
          <a:xfrm>
            <a:off x="7528727" y="5824527"/>
            <a:ext cx="31426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participant feedback to guide future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planning and continuous improvement.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425FB6-C220-F4FE-F1D6-D4EDCBBACF28}"/>
              </a:ext>
            </a:extLst>
          </p:cNvPr>
          <p:cNvSpPr txBox="1"/>
          <p:nvPr/>
        </p:nvSpPr>
        <p:spPr>
          <a:xfrm>
            <a:off x="7528727" y="4534698"/>
            <a:ext cx="30320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Conduct regular monitoring and evaluation to measure long-term employment and income outcomes.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61DD9-60C2-9574-1433-69E8D4360578}"/>
              </a:ext>
            </a:extLst>
          </p:cNvPr>
          <p:cNvSpPr txBox="1"/>
          <p:nvPr/>
        </p:nvSpPr>
        <p:spPr>
          <a:xfrm>
            <a:off x="7528727" y="3362028"/>
            <a:ext cx="29517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Maintain the current quality of training while continuously improving learning facilities and practical resources.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E57BF2-335B-E736-F2F2-3C8BAE6E53B7}"/>
              </a:ext>
            </a:extLst>
          </p:cNvPr>
          <p:cNvSpPr txBox="1"/>
          <p:nvPr/>
        </p:nvSpPr>
        <p:spPr>
          <a:xfrm>
            <a:off x="7528727" y="2159463"/>
            <a:ext cx="28411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Strengthen entrepreneurship support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help graduates grow and sustain self-employment opportunities.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0D0AC2-FEE8-631E-5B42-F4CC64287C99}"/>
              </a:ext>
            </a:extLst>
          </p:cNvPr>
          <p:cNvSpPr txBox="1"/>
          <p:nvPr/>
        </p:nvSpPr>
        <p:spPr>
          <a:xfrm>
            <a:off x="7528727" y="1022888"/>
            <a:ext cx="26429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access to vocational training so that more individuals can benefit from practical skills development.</a:t>
            </a:r>
          </a:p>
        </p:txBody>
      </p:sp>
      <p:pic>
        <p:nvPicPr>
          <p:cNvPr id="20" name="Picture 19" descr="A group of people in a meeting&#10;&#10;AI-generated content may be incorrect.">
            <a:extLst>
              <a:ext uri="{FF2B5EF4-FFF2-40B4-BE49-F238E27FC236}">
                <a16:creationId xmlns:a16="http://schemas.microsoft.com/office/drawing/2014/main" id="{5514BA69-889E-2AF4-CC71-01D572203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4"/>
          <a:stretch/>
        </p:blipFill>
        <p:spPr>
          <a:xfrm>
            <a:off x="167736" y="1089686"/>
            <a:ext cx="7061422" cy="46328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7A37B0-7AA3-F3FC-2D6C-50DE7D12EF2D}"/>
              </a:ext>
            </a:extLst>
          </p:cNvPr>
          <p:cNvSpPr txBox="1"/>
          <p:nvPr/>
        </p:nvSpPr>
        <p:spPr>
          <a:xfrm>
            <a:off x="535075" y="5884430"/>
            <a:ext cx="6094324" cy="9233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These recommendations are based on the survey findings and are intended to support continuous improvement of future TVET </a:t>
            </a:r>
            <a:r>
              <a:rPr lang="en-US" dirty="0" err="1"/>
              <a:t>programmes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19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5AB2C-57D3-E1FB-3B25-DDBA1A3C7F47}"/>
              </a:ext>
            </a:extLst>
          </p:cNvPr>
          <p:cNvSpPr txBox="1"/>
          <p:nvPr/>
        </p:nvSpPr>
        <p:spPr>
          <a:xfrm>
            <a:off x="207085" y="1312376"/>
            <a:ext cx="60942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assessment demonstrates how digital data collection and data analytics can be used to evaluate the impact of TVET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programmes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analysis indicates positive participant outcomes, particularly in employment and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programme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satisfaction. By integrating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KoboToolbox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CommCare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Google Forms, Microsoft Excel, SQL Server, and Power BI, the project produced reliable insights that can support evidence-based planning, monitoring, and decision-making.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Overall, the project achieved its objectives and provides a practical framework for evaluating similar development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programmes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F4A50-E8CA-AF6C-3E6B-8F9FA8BD5B14}"/>
              </a:ext>
            </a:extLst>
          </p:cNvPr>
          <p:cNvSpPr txBox="1"/>
          <p:nvPr/>
        </p:nvSpPr>
        <p:spPr>
          <a:xfrm>
            <a:off x="486783" y="579668"/>
            <a:ext cx="2901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638499-1841-0466-21A0-4D748B6A5E34}"/>
              </a:ext>
            </a:extLst>
          </p:cNvPr>
          <p:cNvSpPr/>
          <p:nvPr/>
        </p:nvSpPr>
        <p:spPr>
          <a:xfrm>
            <a:off x="114521" y="4718564"/>
            <a:ext cx="1850542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95825D-2488-7C8E-2DBD-307D03C64F75}"/>
              </a:ext>
            </a:extLst>
          </p:cNvPr>
          <p:cNvSpPr/>
          <p:nvPr/>
        </p:nvSpPr>
        <p:spPr>
          <a:xfrm>
            <a:off x="2084963" y="4718564"/>
            <a:ext cx="1850542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63BB91-5C81-1D04-1131-6BB947539784}"/>
              </a:ext>
            </a:extLst>
          </p:cNvPr>
          <p:cNvSpPr/>
          <p:nvPr/>
        </p:nvSpPr>
        <p:spPr>
          <a:xfrm>
            <a:off x="4055404" y="4718563"/>
            <a:ext cx="1850543" cy="1034979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2310E-2FEC-D9A1-EAFA-C5B7A58823A5}"/>
              </a:ext>
            </a:extLst>
          </p:cNvPr>
          <p:cNvSpPr txBox="1"/>
          <p:nvPr/>
        </p:nvSpPr>
        <p:spPr>
          <a:xfrm>
            <a:off x="3988170" y="4912886"/>
            <a:ext cx="20145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✔ Evidence-Based</a:t>
            </a:r>
          </a:p>
          <a:p>
            <a:r>
              <a:rPr lang="en-US" sz="1600" dirty="0"/>
              <a:t> Recommendations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728EF8-AF89-273B-6F52-49D895959D84}"/>
              </a:ext>
            </a:extLst>
          </p:cNvPr>
          <p:cNvSpPr txBox="1"/>
          <p:nvPr/>
        </p:nvSpPr>
        <p:spPr>
          <a:xfrm>
            <a:off x="2084962" y="5004320"/>
            <a:ext cx="1850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✔ Data-Driven </a:t>
            </a:r>
          </a:p>
          <a:p>
            <a:pPr algn="ctr"/>
            <a:r>
              <a:rPr lang="en-US" sz="1600" dirty="0"/>
              <a:t>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283FA-8129-3D28-57C5-267A6B14CB8E}"/>
              </a:ext>
            </a:extLst>
          </p:cNvPr>
          <p:cNvSpPr txBox="1"/>
          <p:nvPr/>
        </p:nvSpPr>
        <p:spPr>
          <a:xfrm>
            <a:off x="99052" y="4997368"/>
            <a:ext cx="19332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✔ Complete End-to-End Workflow</a:t>
            </a:r>
          </a:p>
        </p:txBody>
      </p:sp>
      <p:pic>
        <p:nvPicPr>
          <p:cNvPr id="14" name="Picture 13" descr="A group of people sitting at a table throwing papers&#10;&#10;AI-generated content may be incorrect.">
            <a:extLst>
              <a:ext uri="{FF2B5EF4-FFF2-40B4-BE49-F238E27FC236}">
                <a16:creationId xmlns:a16="http://schemas.microsoft.com/office/drawing/2014/main" id="{45C69C74-9493-2734-014D-995E7FF76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367" y="902832"/>
            <a:ext cx="5556548" cy="5229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1EF4B3-329D-0C75-EAB0-5FB617C52362}"/>
              </a:ext>
            </a:extLst>
          </p:cNvPr>
          <p:cNvSpPr txBox="1"/>
          <p:nvPr/>
        </p:nvSpPr>
        <p:spPr>
          <a:xfrm>
            <a:off x="282829" y="6252248"/>
            <a:ext cx="11702086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"Reliable data becomes valuable only when it is transformed into meaningful insights that support better decisions."</a:t>
            </a:r>
          </a:p>
        </p:txBody>
      </p:sp>
    </p:spTree>
    <p:extLst>
      <p:ext uri="{BB962C8B-B14F-4D97-AF65-F5344CB8AC3E}">
        <p14:creationId xmlns:p14="http://schemas.microsoft.com/office/powerpoint/2010/main" val="1491287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28E7A-F6EC-6076-401D-F1F3C8F6105B}"/>
              </a:ext>
            </a:extLst>
          </p:cNvPr>
          <p:cNvSpPr txBox="1"/>
          <p:nvPr/>
        </p:nvSpPr>
        <p:spPr>
          <a:xfrm>
            <a:off x="411480" y="589884"/>
            <a:ext cx="4805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 &amp;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07AB2-5BA3-86EB-116F-C0480B597735}"/>
              </a:ext>
            </a:extLst>
          </p:cNvPr>
          <p:cNvSpPr txBox="1"/>
          <p:nvPr/>
        </p:nvSpPr>
        <p:spPr>
          <a:xfrm>
            <a:off x="3048896" y="1576930"/>
            <a:ext cx="60942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Questions &amp; Discussion</a:t>
            </a: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 for your time and attention.</a:t>
            </a:r>
          </a:p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welcome your questions, comments, and feedback.</a:t>
            </a:r>
          </a:p>
        </p:txBody>
      </p:sp>
      <p:pic>
        <p:nvPicPr>
          <p:cNvPr id="7" name="Picture 6" descr="A group of people holding a sign&#10;&#10;AI-generated content may be incorrect.">
            <a:extLst>
              <a:ext uri="{FF2B5EF4-FFF2-40B4-BE49-F238E27FC236}">
                <a16:creationId xmlns:a16="http://schemas.microsoft.com/office/drawing/2014/main" id="{54F1B164-0F5E-9EE3-CABA-9706EAAB2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432" y="2644644"/>
            <a:ext cx="3747135" cy="15687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4D5106-6453-6153-69AF-67E28A488A85}"/>
              </a:ext>
            </a:extLst>
          </p:cNvPr>
          <p:cNvSpPr txBox="1"/>
          <p:nvPr/>
        </p:nvSpPr>
        <p:spPr>
          <a:xfrm>
            <a:off x="3047104" y="5081533"/>
            <a:ext cx="6094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Prepared by:</a:t>
            </a:r>
          </a:p>
          <a:p>
            <a:pPr algn="ctr"/>
            <a:r>
              <a:rPr lang="en-US" dirty="0"/>
              <a:t> Umar Musa Isah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Data Analytics Bootcamp Capstone Project August 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30FD53-0E3E-B39E-3924-49ABF04F4789}"/>
              </a:ext>
            </a:extLst>
          </p:cNvPr>
          <p:cNvSpPr txBox="1"/>
          <p:nvPr/>
        </p:nvSpPr>
        <p:spPr>
          <a:xfrm>
            <a:off x="2971800" y="6370145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"Turning data into meaningful insights for better decisions."</a:t>
            </a:r>
          </a:p>
        </p:txBody>
      </p:sp>
    </p:spTree>
    <p:extLst>
      <p:ext uri="{BB962C8B-B14F-4D97-AF65-F5344CB8AC3E}">
        <p14:creationId xmlns:p14="http://schemas.microsoft.com/office/powerpoint/2010/main" val="186886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843</Words>
  <Application>Microsoft Office PowerPoint</Application>
  <PresentationFormat>Widescreen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musa isah</dc:creator>
  <cp:lastModifiedBy>umar musa isah</cp:lastModifiedBy>
  <cp:revision>3</cp:revision>
  <dcterms:created xsi:type="dcterms:W3CDTF">2026-07-31T09:02:37Z</dcterms:created>
  <dcterms:modified xsi:type="dcterms:W3CDTF">2026-07-31T12:14:57Z</dcterms:modified>
</cp:coreProperties>
</file>